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  <p:sldMasterId id="2147483663" r:id="rId4"/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6858000" cx="12192000"/>
  <p:notesSz cx="6858000" cy="9144000"/>
  <p:embeddedFontLst>
    <p:embeddedFont>
      <p:font typeface="Arimo"/>
      <p:regular r:id="rId30"/>
      <p:bold r:id="rId31"/>
      <p:italic r:id="rId32"/>
      <p:boldItalic r:id="rId33"/>
    </p:embeddedFont>
    <p:embeddedFont>
      <p:font typeface="Helvetica Neue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Arimo-bold.fntdata"/><Relationship Id="rId30" Type="http://schemas.openxmlformats.org/officeDocument/2006/relationships/font" Target="fonts/Arimo-regular.fntdata"/><Relationship Id="rId11" Type="http://schemas.openxmlformats.org/officeDocument/2006/relationships/slide" Target="slides/slide4.xml"/><Relationship Id="rId33" Type="http://schemas.openxmlformats.org/officeDocument/2006/relationships/font" Target="fonts/Arimo-boldItalic.fntdata"/><Relationship Id="rId10" Type="http://schemas.openxmlformats.org/officeDocument/2006/relationships/slide" Target="slides/slide3.xml"/><Relationship Id="rId32" Type="http://schemas.openxmlformats.org/officeDocument/2006/relationships/font" Target="fonts/Arimo-italic.fntdata"/><Relationship Id="rId13" Type="http://schemas.openxmlformats.org/officeDocument/2006/relationships/slide" Target="slides/slide6.xml"/><Relationship Id="rId35" Type="http://schemas.openxmlformats.org/officeDocument/2006/relationships/font" Target="fonts/HelveticaNeue-bold.fntdata"/><Relationship Id="rId12" Type="http://schemas.openxmlformats.org/officeDocument/2006/relationships/slide" Target="slides/slide5.xml"/><Relationship Id="rId34" Type="http://schemas.openxmlformats.org/officeDocument/2006/relationships/font" Target="fonts/HelveticaNeue-regular.fntdata"/><Relationship Id="rId15" Type="http://schemas.openxmlformats.org/officeDocument/2006/relationships/slide" Target="slides/slide8.xml"/><Relationship Id="rId37" Type="http://schemas.openxmlformats.org/officeDocument/2006/relationships/font" Target="fonts/HelveticaNeue-boldItalic.fntdata"/><Relationship Id="rId14" Type="http://schemas.openxmlformats.org/officeDocument/2006/relationships/slide" Target="slides/slide7.xml"/><Relationship Id="rId36" Type="http://schemas.openxmlformats.org/officeDocument/2006/relationships/font" Target="fonts/HelveticaNeue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224cd4461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224cd446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1507067" y="2404534"/>
            <a:ext cx="7766937" cy="16463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body"/>
          </p:nvPr>
        </p:nvSpPr>
        <p:spPr>
          <a:xfrm>
            <a:off x="1507067" y="4050832"/>
            <a:ext cx="7766937" cy="1096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Trebuchet MS"/>
              <a:buNone/>
              <a:defRPr>
                <a:solidFill>
                  <a:srgbClr val="808080"/>
                </a:solidFill>
              </a:defRPr>
            </a:lvl1pPr>
            <a:lvl2pPr indent="-228600" lvl="1" marL="9144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Trebuchet MS"/>
              <a:buNone/>
              <a:defRPr>
                <a:solidFill>
                  <a:srgbClr val="808080"/>
                </a:solidFill>
              </a:defRPr>
            </a:lvl2pPr>
            <a:lvl3pPr indent="-228600" lvl="2" marL="1371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Trebuchet MS"/>
              <a:buNone/>
              <a:defRPr>
                <a:solidFill>
                  <a:srgbClr val="808080"/>
                </a:solidFill>
              </a:defRPr>
            </a:lvl3pPr>
            <a:lvl4pPr indent="-228600" lvl="3" marL="18288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Trebuchet MS"/>
              <a:buNone/>
              <a:defRPr>
                <a:solidFill>
                  <a:srgbClr val="808080"/>
                </a:solidFill>
              </a:defRPr>
            </a:lvl4pPr>
            <a:lvl5pPr indent="-228600" lvl="4" marL="22860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Trebuchet MS"/>
              <a:buNone/>
              <a:defRPr>
                <a:solidFill>
                  <a:srgbClr val="808080"/>
                </a:solidFill>
              </a:defRPr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685798" y="609600"/>
            <a:ext cx="858820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677332" y="4013200"/>
            <a:ext cx="8596670" cy="5142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>
                <a:solidFill>
                  <a:schemeClr val="accent1"/>
                </a:solidFill>
              </a:defRPr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2" type="body"/>
          </p:nvPr>
        </p:nvSpPr>
        <p:spPr>
          <a:xfrm>
            <a:off x="677334" y="4527448"/>
            <a:ext cx="8596670" cy="1513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677335" y="1931988"/>
            <a:ext cx="8596669" cy="25954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677335" y="4527448"/>
            <a:ext cx="8596669" cy="1513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None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677335" y="609600"/>
            <a:ext cx="8596669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677335" y="4470400"/>
            <a:ext cx="8596669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None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677333" y="4800600"/>
            <a:ext cx="8596668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8"/>
          <p:cNvSpPr/>
          <p:nvPr>
            <p:ph idx="2" type="pic"/>
          </p:nvPr>
        </p:nvSpPr>
        <p:spPr>
          <a:xfrm>
            <a:off x="677333" y="609600"/>
            <a:ext cx="8596670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8"/>
          <p:cNvSpPr txBox="1"/>
          <p:nvPr>
            <p:ph idx="1" type="body"/>
          </p:nvPr>
        </p:nvSpPr>
        <p:spPr>
          <a:xfrm>
            <a:off x="677333" y="5367337"/>
            <a:ext cx="8596668" cy="67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Trebuchet MS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Trebuchet MS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Trebuchet MS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Trebuchet MS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Trebuchet MS"/>
              <a:buNone/>
              <a:defRPr sz="1200"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677333" y="1498603"/>
            <a:ext cx="3854529" cy="1278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4760460" y="514923"/>
            <a:ext cx="4513543" cy="5526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677334" y="2777069"/>
            <a:ext cx="3854528" cy="258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675744" y="2160983"/>
            <a:ext cx="4185624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Trebuchet MS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Trebuchet MS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Trebuchet MS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Trebuchet MS"/>
              <a:buNone/>
              <a:defRPr sz="24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Trebuchet MS"/>
              <a:buNone/>
              <a:defRPr sz="2400"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2" type="body"/>
          </p:nvPr>
        </p:nvSpPr>
        <p:spPr>
          <a:xfrm>
            <a:off x="5088382" y="2160983"/>
            <a:ext cx="4185619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677333" y="2160589"/>
            <a:ext cx="4184036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>
            <a:off x="677335" y="2700866"/>
            <a:ext cx="8596669" cy="18265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" type="body"/>
          </p:nvPr>
        </p:nvSpPr>
        <p:spPr>
          <a:xfrm>
            <a:off x="677335" y="4527448"/>
            <a:ext cx="8596669" cy="860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2000"/>
              <a:buFont typeface="Trebuchet MS"/>
              <a:buNone/>
              <a:defRPr sz="2000">
                <a:solidFill>
                  <a:srgbClr val="80808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2000"/>
              <a:buFont typeface="Trebuchet MS"/>
              <a:buNone/>
              <a:defRPr sz="2000">
                <a:solidFill>
                  <a:srgbClr val="80808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2000"/>
              <a:buFont typeface="Trebuchet MS"/>
              <a:buNone/>
              <a:defRPr sz="2000">
                <a:solidFill>
                  <a:srgbClr val="80808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2000"/>
              <a:buFont typeface="Trebuchet MS"/>
              <a:buNone/>
              <a:defRPr sz="2000">
                <a:solidFill>
                  <a:srgbClr val="80808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2000"/>
              <a:buFont typeface="Trebuchet MS"/>
              <a:buNone/>
              <a:defRPr sz="2000">
                <a:solidFill>
                  <a:srgbClr val="808080"/>
                </a:solidFill>
              </a:defRPr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677333" y="2160589"/>
            <a:ext cx="8596670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 type="tx">
  <p:cSld name="TITLE_AND_BOD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1366138" y="3632200"/>
            <a:ext cx="7224526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600"/>
              <a:buFont typeface="Trebuchet MS"/>
              <a:buNone/>
              <a:defRPr sz="1600">
                <a:solidFill>
                  <a:srgbClr val="80808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600"/>
              <a:buFont typeface="Trebuchet MS"/>
              <a:buNone/>
              <a:defRPr sz="1600">
                <a:solidFill>
                  <a:srgbClr val="80808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600"/>
              <a:buFont typeface="Trebuchet MS"/>
              <a:buNone/>
              <a:defRPr sz="1600">
                <a:solidFill>
                  <a:srgbClr val="80808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600"/>
              <a:buFont typeface="Trebuchet MS"/>
              <a:buNone/>
              <a:defRPr sz="1600">
                <a:solidFill>
                  <a:srgbClr val="80808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600"/>
              <a:buFont typeface="Trebuchet MS"/>
              <a:buNone/>
              <a:defRPr sz="1600">
                <a:solidFill>
                  <a:srgbClr val="808080"/>
                </a:solidFill>
              </a:defRPr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2" type="body"/>
          </p:nvPr>
        </p:nvSpPr>
        <p:spPr>
          <a:xfrm>
            <a:off x="677334" y="4470400"/>
            <a:ext cx="8596670" cy="1570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 type="tx">
  <p:cSld name="TITLE_AND_BOD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/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677332" y="4013200"/>
            <a:ext cx="8596670" cy="5142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Trebuchet MS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Trebuchet MS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Trebuchet MS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Trebuchet MS"/>
              <a:buNone/>
              <a:defRPr sz="24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Trebuchet MS"/>
              <a:buNone/>
              <a:defRPr sz="2400"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126" name="Google Shape;126;p18"/>
          <p:cNvSpPr txBox="1"/>
          <p:nvPr>
            <p:ph idx="2" type="body"/>
          </p:nvPr>
        </p:nvSpPr>
        <p:spPr>
          <a:xfrm>
            <a:off x="677334" y="4527448"/>
            <a:ext cx="8596670" cy="1513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"/>
              <a:defRPr/>
            </a:lvl9pPr>
          </a:lstStyle>
          <a:p/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" y="-7937"/>
            <a:ext cx="12192001" cy="6865938"/>
            <a:chOff x="-1" y="0"/>
            <a:chExt cx="12192001" cy="6866468"/>
          </a:xfrm>
        </p:grpSpPr>
        <p:cxnSp>
          <p:nvCxnSpPr>
            <p:cNvPr id="7" name="Google Shape;7;p1"/>
            <p:cNvCxnSpPr/>
            <p:nvPr/>
          </p:nvCxnSpPr>
          <p:spPr>
            <a:xfrm>
              <a:off x="9371012" y="8466"/>
              <a:ext cx="1219201" cy="6858002"/>
            </a:xfrm>
            <a:prstGeom prst="straightConnector1">
              <a:avLst/>
            </a:prstGeom>
            <a:noFill/>
            <a:ln cap="rnd" cmpd="sng" w="9525">
              <a:solidFill>
                <a:srgbClr val="BFBFBF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8" name="Google Shape;8;p1"/>
            <p:cNvCxnSpPr/>
            <p:nvPr/>
          </p:nvCxnSpPr>
          <p:spPr>
            <a:xfrm flipH="1">
              <a:off x="7425266" y="3689880"/>
              <a:ext cx="4763559" cy="3176587"/>
            </a:xfrm>
            <a:prstGeom prst="straightConnector1">
              <a:avLst/>
            </a:prstGeom>
            <a:noFill/>
            <a:ln cap="rnd" cmpd="sng" w="9525">
              <a:solidFill>
                <a:srgbClr val="D9D9D9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sp>
          <p:nvSpPr>
            <p:cNvPr id="9" name="Google Shape;9;p1"/>
            <p:cNvSpPr/>
            <p:nvPr/>
          </p:nvSpPr>
          <p:spPr>
            <a:xfrm>
              <a:off x="9181476" y="0"/>
              <a:ext cx="3007349" cy="6866467"/>
            </a:xfrm>
            <a:custGeom>
              <a:rect b="b" l="l" r="r" t="t"/>
              <a:pathLst>
                <a:path extrusionOk="0" h="21600" w="2160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9603441" y="0"/>
              <a:ext cx="2588559" cy="6866467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8932333" y="3056466"/>
              <a:ext cx="3259667" cy="381000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9334500" y="0"/>
              <a:ext cx="2854326" cy="6866467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196"/>
              </a:srgb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0898730" y="0"/>
              <a:ext cx="1290095" cy="6866468"/>
            </a:xfrm>
            <a:custGeom>
              <a:rect b="b" l="l" r="r" t="t"/>
              <a:pathLst>
                <a:path extrusionOk="0" h="21600" w="2160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C0E474">
                <a:alpha val="70196"/>
              </a:srgb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0938998" y="0"/>
              <a:ext cx="1249826" cy="6866468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0371666" y="3598333"/>
              <a:ext cx="1817160" cy="3268134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 rot="10800000">
              <a:off x="-1" y="8466"/>
              <a:ext cx="842597" cy="5666156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7" name="Google Shape;17;p1"/>
          <p:cNvSpPr txBox="1"/>
          <p:nvPr>
            <p:ph type="title"/>
          </p:nvPr>
        </p:nvSpPr>
        <p:spPr>
          <a:xfrm>
            <a:off x="609600" y="274637"/>
            <a:ext cx="109728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2004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2004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2004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2004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2004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2004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2004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-1" y="-7937"/>
            <a:ext cx="12192001" cy="6865938"/>
            <a:chOff x="-1" y="0"/>
            <a:chExt cx="12192001" cy="6866468"/>
          </a:xfrm>
        </p:grpSpPr>
        <p:cxnSp>
          <p:nvCxnSpPr>
            <p:cNvPr id="26" name="Google Shape;26;p3"/>
            <p:cNvCxnSpPr/>
            <p:nvPr/>
          </p:nvCxnSpPr>
          <p:spPr>
            <a:xfrm>
              <a:off x="9371012" y="8466"/>
              <a:ext cx="1219201" cy="6858002"/>
            </a:xfrm>
            <a:prstGeom prst="straightConnector1">
              <a:avLst/>
            </a:prstGeom>
            <a:noFill/>
            <a:ln cap="rnd" cmpd="sng" w="9525">
              <a:solidFill>
                <a:srgbClr val="BFBFBF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7" name="Google Shape;27;p3"/>
            <p:cNvCxnSpPr/>
            <p:nvPr/>
          </p:nvCxnSpPr>
          <p:spPr>
            <a:xfrm flipH="1">
              <a:off x="7425266" y="3689880"/>
              <a:ext cx="4763559" cy="3176587"/>
            </a:xfrm>
            <a:prstGeom prst="straightConnector1">
              <a:avLst/>
            </a:prstGeom>
            <a:noFill/>
            <a:ln cap="rnd" cmpd="sng" w="9525">
              <a:solidFill>
                <a:srgbClr val="D9D9D9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sp>
          <p:nvSpPr>
            <p:cNvPr id="28" name="Google Shape;28;p3"/>
            <p:cNvSpPr/>
            <p:nvPr/>
          </p:nvSpPr>
          <p:spPr>
            <a:xfrm>
              <a:off x="9181476" y="0"/>
              <a:ext cx="3007349" cy="6866467"/>
            </a:xfrm>
            <a:custGeom>
              <a:rect b="b" l="l" r="r" t="t"/>
              <a:pathLst>
                <a:path extrusionOk="0" h="21600" w="2160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9603441" y="0"/>
              <a:ext cx="2588559" cy="6866467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8932333" y="3056466"/>
              <a:ext cx="3259667" cy="381000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9334500" y="0"/>
              <a:ext cx="2854326" cy="6866467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196"/>
              </a:srgb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0898730" y="0"/>
              <a:ext cx="1290095" cy="6866468"/>
            </a:xfrm>
            <a:custGeom>
              <a:rect b="b" l="l" r="r" t="t"/>
              <a:pathLst>
                <a:path extrusionOk="0" h="21600" w="2160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C0E474">
                <a:alpha val="70196"/>
              </a:srgb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0938998" y="0"/>
              <a:ext cx="1249826" cy="6866468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0371666" y="3598333"/>
              <a:ext cx="1817160" cy="3268134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-1" y="4021666"/>
              <a:ext cx="448734" cy="284480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36" name="Google Shape;36;p3"/>
          <p:cNvSpPr txBox="1"/>
          <p:nvPr>
            <p:ph type="title"/>
          </p:nvPr>
        </p:nvSpPr>
        <p:spPr>
          <a:xfrm>
            <a:off x="609600" y="274637"/>
            <a:ext cx="109728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37" name="Google Shape;37;p3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2004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2004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2004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2004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2004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2004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2004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5"/>
          <p:cNvGrpSpPr/>
          <p:nvPr/>
        </p:nvGrpSpPr>
        <p:grpSpPr>
          <a:xfrm>
            <a:off x="-1" y="-7937"/>
            <a:ext cx="12192001" cy="6865938"/>
            <a:chOff x="-1" y="0"/>
            <a:chExt cx="12192001" cy="6866468"/>
          </a:xfrm>
        </p:grpSpPr>
        <p:cxnSp>
          <p:nvCxnSpPr>
            <p:cNvPr id="86" name="Google Shape;86;p15"/>
            <p:cNvCxnSpPr/>
            <p:nvPr/>
          </p:nvCxnSpPr>
          <p:spPr>
            <a:xfrm>
              <a:off x="9371012" y="8466"/>
              <a:ext cx="1219201" cy="6858002"/>
            </a:xfrm>
            <a:prstGeom prst="straightConnector1">
              <a:avLst/>
            </a:prstGeom>
            <a:noFill/>
            <a:ln cap="rnd" cmpd="sng" w="9525">
              <a:solidFill>
                <a:srgbClr val="BFBFBF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87" name="Google Shape;87;p15"/>
            <p:cNvCxnSpPr/>
            <p:nvPr/>
          </p:nvCxnSpPr>
          <p:spPr>
            <a:xfrm flipH="1">
              <a:off x="7425266" y="3689880"/>
              <a:ext cx="4763559" cy="3176587"/>
            </a:xfrm>
            <a:prstGeom prst="straightConnector1">
              <a:avLst/>
            </a:prstGeom>
            <a:noFill/>
            <a:ln cap="rnd" cmpd="sng" w="9525">
              <a:solidFill>
                <a:srgbClr val="D9D9D9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sp>
          <p:nvSpPr>
            <p:cNvPr id="88" name="Google Shape;88;p15"/>
            <p:cNvSpPr/>
            <p:nvPr/>
          </p:nvSpPr>
          <p:spPr>
            <a:xfrm>
              <a:off x="9181476" y="0"/>
              <a:ext cx="3007349" cy="6866467"/>
            </a:xfrm>
            <a:custGeom>
              <a:rect b="b" l="l" r="r" t="t"/>
              <a:pathLst>
                <a:path extrusionOk="0" h="21600" w="2160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9603441" y="0"/>
              <a:ext cx="2588559" cy="6866467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8932333" y="3056466"/>
              <a:ext cx="3259667" cy="381000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9334500" y="0"/>
              <a:ext cx="2854326" cy="6866467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196"/>
              </a:srgb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10898730" y="0"/>
              <a:ext cx="1290095" cy="6866468"/>
            </a:xfrm>
            <a:custGeom>
              <a:rect b="b" l="l" r="r" t="t"/>
              <a:pathLst>
                <a:path extrusionOk="0" h="21600" w="2160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C0E474">
                <a:alpha val="70196"/>
              </a:srgb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10938998" y="0"/>
              <a:ext cx="1249826" cy="6866468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10371666" y="3598333"/>
              <a:ext cx="1817160" cy="3268134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-1" y="4021666"/>
              <a:ext cx="448734" cy="284480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96" name="Google Shape;96;p15"/>
          <p:cNvSpPr txBox="1"/>
          <p:nvPr/>
        </p:nvSpPr>
        <p:spPr>
          <a:xfrm>
            <a:off x="587375" y="469900"/>
            <a:ext cx="519112" cy="1225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E474"/>
              </a:buClr>
              <a:buSzPts val="8000"/>
              <a:buFont typeface="Arial"/>
              <a:buNone/>
            </a:pPr>
            <a:r>
              <a:rPr b="0" i="0" lang="en-US" sz="8000" u="none">
                <a:solidFill>
                  <a:srgbClr val="C0E47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8939212" y="2565400"/>
            <a:ext cx="517525" cy="1227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E474"/>
              </a:buClr>
              <a:buSzPts val="8000"/>
              <a:buFont typeface="Arial"/>
              <a:buNone/>
            </a:pPr>
            <a:r>
              <a:rPr b="0" i="0" lang="en-US" sz="8000" u="none">
                <a:solidFill>
                  <a:srgbClr val="C0E47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09600" y="274637"/>
            <a:ext cx="109728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2004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2004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2004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2004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2004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2004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2004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7"/>
          <p:cNvGrpSpPr/>
          <p:nvPr/>
        </p:nvGrpSpPr>
        <p:grpSpPr>
          <a:xfrm>
            <a:off x="-1" y="-7937"/>
            <a:ext cx="12192001" cy="6865938"/>
            <a:chOff x="-1" y="0"/>
            <a:chExt cx="12192001" cy="6866468"/>
          </a:xfrm>
        </p:grpSpPr>
        <p:cxnSp>
          <p:nvCxnSpPr>
            <p:cNvPr id="108" name="Google Shape;108;p17"/>
            <p:cNvCxnSpPr/>
            <p:nvPr/>
          </p:nvCxnSpPr>
          <p:spPr>
            <a:xfrm>
              <a:off x="9371012" y="8466"/>
              <a:ext cx="1219201" cy="6858002"/>
            </a:xfrm>
            <a:prstGeom prst="straightConnector1">
              <a:avLst/>
            </a:prstGeom>
            <a:noFill/>
            <a:ln cap="rnd" cmpd="sng" w="9525">
              <a:solidFill>
                <a:srgbClr val="BFBFBF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109" name="Google Shape;109;p17"/>
            <p:cNvCxnSpPr/>
            <p:nvPr/>
          </p:nvCxnSpPr>
          <p:spPr>
            <a:xfrm flipH="1">
              <a:off x="7425266" y="3689880"/>
              <a:ext cx="4763559" cy="3176587"/>
            </a:xfrm>
            <a:prstGeom prst="straightConnector1">
              <a:avLst/>
            </a:prstGeom>
            <a:noFill/>
            <a:ln cap="rnd" cmpd="sng" w="9525">
              <a:solidFill>
                <a:srgbClr val="D9D9D9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sp>
          <p:nvSpPr>
            <p:cNvPr id="110" name="Google Shape;110;p17"/>
            <p:cNvSpPr/>
            <p:nvPr/>
          </p:nvSpPr>
          <p:spPr>
            <a:xfrm>
              <a:off x="9181476" y="0"/>
              <a:ext cx="3007349" cy="6866467"/>
            </a:xfrm>
            <a:custGeom>
              <a:rect b="b" l="l" r="r" t="t"/>
              <a:pathLst>
                <a:path extrusionOk="0" h="21600" w="2160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9603441" y="0"/>
              <a:ext cx="2588559" cy="6866467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8932333" y="3056466"/>
              <a:ext cx="3259667" cy="381000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9334500" y="0"/>
              <a:ext cx="2854326" cy="6866467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196"/>
              </a:srgb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10898730" y="0"/>
              <a:ext cx="1290095" cy="6866468"/>
            </a:xfrm>
            <a:custGeom>
              <a:rect b="b" l="l" r="r" t="t"/>
              <a:pathLst>
                <a:path extrusionOk="0" h="21600" w="2160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C0E474">
                <a:alpha val="70196"/>
              </a:srgb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10938998" y="0"/>
              <a:ext cx="1249826" cy="6866468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10371666" y="3598333"/>
              <a:ext cx="1817160" cy="3268134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-1" y="4021666"/>
              <a:ext cx="448734" cy="2844801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18" name="Google Shape;118;p17"/>
          <p:cNvSpPr txBox="1"/>
          <p:nvPr/>
        </p:nvSpPr>
        <p:spPr>
          <a:xfrm>
            <a:off x="587375" y="469900"/>
            <a:ext cx="519112" cy="1225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E474"/>
              </a:buClr>
              <a:buSzPts val="8000"/>
              <a:buFont typeface="Arial"/>
              <a:buNone/>
            </a:pPr>
            <a:r>
              <a:rPr b="0" i="0" lang="en-US" sz="8000" u="none">
                <a:solidFill>
                  <a:srgbClr val="C0E47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8939212" y="2565400"/>
            <a:ext cx="517525" cy="1227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E474"/>
              </a:buClr>
              <a:buSzPts val="8000"/>
              <a:buFont typeface="Arial"/>
              <a:buNone/>
            </a:pPr>
            <a:r>
              <a:rPr b="0" i="0" lang="en-US" sz="8000" u="none">
                <a:solidFill>
                  <a:srgbClr val="C0E47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20" name="Google Shape;120;p17"/>
          <p:cNvSpPr txBox="1"/>
          <p:nvPr>
            <p:ph type="title"/>
          </p:nvPr>
        </p:nvSpPr>
        <p:spPr>
          <a:xfrm>
            <a:off x="609600" y="274637"/>
            <a:ext cx="109728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2004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2004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2004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2004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2004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2004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2004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Trebuchet MS"/>
              <a:buChar char=""/>
              <a:defRPr b="0" i="0" sz="18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22" name="Google Shape;122;p17"/>
          <p:cNvSpPr txBox="1"/>
          <p:nvPr>
            <p:ph idx="12" type="sldNum"/>
          </p:nvPr>
        </p:nvSpPr>
        <p:spPr>
          <a:xfrm>
            <a:off x="9050337" y="6115050"/>
            <a:ext cx="223837" cy="21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idx="4294967295" type="ctrTitle"/>
          </p:nvPr>
        </p:nvSpPr>
        <p:spPr>
          <a:xfrm>
            <a:off x="1339850" y="719137"/>
            <a:ext cx="5508625" cy="2398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Algerian"/>
              <a:buNone/>
            </a:pPr>
            <a:r>
              <a:rPr b="0" i="0" lang="en-US" sz="4800" u="none" cap="none" strike="noStrike">
                <a:solidFill>
                  <a:srgbClr val="C00000"/>
                </a:solidFill>
                <a:latin typeface="Algerian"/>
                <a:ea typeface="Algerian"/>
                <a:cs typeface="Algerian"/>
                <a:sym typeface="Algerian"/>
              </a:rPr>
              <a:t>Chinook music store</a:t>
            </a:r>
            <a:br>
              <a:rPr b="0" i="0" lang="en-US" sz="4800" u="none" cap="none" strike="noStrike">
                <a:solidFill>
                  <a:srgbClr val="C00000"/>
                </a:solidFill>
                <a:latin typeface="Algerian"/>
                <a:ea typeface="Algerian"/>
                <a:cs typeface="Algerian"/>
                <a:sym typeface="Algerian"/>
              </a:rPr>
            </a:br>
            <a:r>
              <a:rPr b="0" i="0" lang="en-US" sz="4800" u="none" cap="none" strike="noStrike">
                <a:solidFill>
                  <a:srgbClr val="C00000"/>
                </a:solidFill>
                <a:latin typeface="Algerian"/>
                <a:ea typeface="Algerian"/>
                <a:cs typeface="Algerian"/>
                <a:sym typeface="Algerian"/>
              </a:rPr>
              <a:t>database analysis</a:t>
            </a:r>
            <a:endParaRPr/>
          </a:p>
        </p:txBody>
      </p:sp>
      <p:sp>
        <p:nvSpPr>
          <p:cNvPr id="133" name="Google Shape;133;p19"/>
          <p:cNvSpPr txBox="1"/>
          <p:nvPr>
            <p:ph idx="4294967295" type="subTitle"/>
          </p:nvPr>
        </p:nvSpPr>
        <p:spPr>
          <a:xfrm>
            <a:off x="2579687" y="4148137"/>
            <a:ext cx="2886075" cy="1376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Trebuchet M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Ankit Kumar Ojha</a:t>
            </a:r>
            <a:endParaRPr/>
          </a:p>
        </p:txBody>
      </p:sp>
      <p:grpSp>
        <p:nvGrpSpPr>
          <p:cNvPr id="134" name="Google Shape;134;p19"/>
          <p:cNvGrpSpPr/>
          <p:nvPr/>
        </p:nvGrpSpPr>
        <p:grpSpPr>
          <a:xfrm>
            <a:off x="6972300" y="641349"/>
            <a:ext cx="4500563" cy="2203452"/>
            <a:chOff x="0" y="-1"/>
            <a:chExt cx="4500846" cy="2203146"/>
          </a:xfrm>
        </p:grpSpPr>
        <p:sp>
          <p:nvSpPr>
            <p:cNvPr id="135" name="Google Shape;135;p19"/>
            <p:cNvSpPr txBox="1"/>
            <p:nvPr/>
          </p:nvSpPr>
          <p:spPr>
            <a:xfrm>
              <a:off x="0" y="0"/>
              <a:ext cx="4500846" cy="22031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descr="image1.tif" id="136" name="Google Shape;136;p19"/>
            <p:cNvPicPr preferRelativeResize="0"/>
            <p:nvPr/>
          </p:nvPicPr>
          <p:blipFill rotWithShape="1">
            <a:blip r:embed="rId3">
              <a:alphaModFix/>
            </a:blip>
            <a:srcRect b="0" l="1234" r="0" t="3953"/>
            <a:stretch/>
          </p:blipFill>
          <p:spPr>
            <a:xfrm>
              <a:off x="0" y="-1"/>
              <a:ext cx="4500845" cy="22031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Picture 4" id="137" name="Google Shape;13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2300" y="2765425"/>
            <a:ext cx="4500562" cy="379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/>
        </p:nvSpPr>
        <p:spPr>
          <a:xfrm>
            <a:off x="1990725" y="563562"/>
            <a:ext cx="3713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lgerian"/>
              <a:buNone/>
            </a:pPr>
            <a:r>
              <a:rPr b="0" i="0" lang="en-US" sz="3600" u="none">
                <a:solidFill>
                  <a:srgbClr val="C00000"/>
                </a:solidFill>
                <a:latin typeface="Algerian"/>
                <a:ea typeface="Algerian"/>
                <a:cs typeface="Algerian"/>
                <a:sym typeface="Algerian"/>
              </a:rPr>
              <a:t>INTRODUCTION</a:t>
            </a:r>
            <a:endParaRPr sz="1000"/>
          </a:p>
        </p:txBody>
      </p:sp>
      <p:sp>
        <p:nvSpPr>
          <p:cNvPr id="143" name="Google Shape;143;p20"/>
          <p:cNvSpPr txBox="1"/>
          <p:nvPr/>
        </p:nvSpPr>
        <p:spPr>
          <a:xfrm>
            <a:off x="4959350" y="1905000"/>
            <a:ext cx="4500562" cy="3381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🎵 </a:t>
            </a:r>
            <a:r>
              <a:rPr b="1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Chinook Database Highlights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1" i="0" sz="1800" u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Simulates a digital music store with data on customers, sales, and inventory.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Covers artists, albums, tracks, invoices, and employee details.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Models both online and in-store purchases.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Includes global customer base and local sales teams.</a:t>
            </a:r>
            <a:endParaRPr/>
          </a:p>
        </p:txBody>
      </p:sp>
      <p:pic>
        <p:nvPicPr>
          <p:cNvPr descr="Picture 2" id="144" name="Google Shape;1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637" y="1792287"/>
            <a:ext cx="4060825" cy="4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225" y="1525125"/>
            <a:ext cx="7481202" cy="494647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1112513" y="434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20">
                <a:solidFill>
                  <a:schemeClr val="accent5"/>
                </a:solidFill>
                <a:latin typeface="Algerian"/>
                <a:ea typeface="Algerian"/>
                <a:cs typeface="Algerian"/>
                <a:sym typeface="Algerian"/>
              </a:rPr>
              <a:t>Database schema</a:t>
            </a:r>
            <a:endParaRPr sz="3620">
              <a:solidFill>
                <a:schemeClr val="accent5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/>
        </p:nvSpPr>
        <p:spPr>
          <a:xfrm>
            <a:off x="1801812" y="677862"/>
            <a:ext cx="4668837" cy="779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lgerian"/>
              <a:buNone/>
            </a:pPr>
            <a:r>
              <a:rPr b="0" i="0" lang="en-US" sz="3600" u="none">
                <a:solidFill>
                  <a:srgbClr val="C00000"/>
                </a:solidFill>
                <a:latin typeface="Algerian"/>
                <a:ea typeface="Algerian"/>
                <a:cs typeface="Algerian"/>
                <a:sym typeface="Algerian"/>
              </a:rPr>
              <a:t>AIMS OF ANALYSIS</a:t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1263650" y="1612900"/>
            <a:ext cx="7231062" cy="3817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 customer behavior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analyzing purchase patterns, frequency, and preferences.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top-performing products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—albums, artists, and genres that drive the most revenue.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sales trends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across time periods, regions, and platforms (online vs. offline).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 churn risks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segment customers based on engagement and transaction history.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strategic decisions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such as marketing focus, inventory planning, and loyalty programs.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/>
        </p:nvSpPr>
        <p:spPr>
          <a:xfrm>
            <a:off x="1954212" y="627062"/>
            <a:ext cx="41910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lgerian"/>
              <a:buNone/>
            </a:pPr>
            <a:r>
              <a:rPr b="0" i="0" lang="en-US" sz="3600" u="none">
                <a:solidFill>
                  <a:srgbClr val="C00000"/>
                </a:solidFill>
                <a:latin typeface="Algerian"/>
                <a:ea typeface="Algerian"/>
                <a:cs typeface="Algerian"/>
                <a:sym typeface="Algerian"/>
              </a:rPr>
              <a:t>DATA OVERVIEW</a:t>
            </a:r>
            <a:endParaRPr/>
          </a:p>
        </p:txBody>
      </p:sp>
      <p:sp>
        <p:nvSpPr>
          <p:cNvPr id="162" name="Google Shape;162;p23"/>
          <p:cNvSpPr txBox="1"/>
          <p:nvPr/>
        </p:nvSpPr>
        <p:spPr>
          <a:xfrm>
            <a:off x="1093787" y="1322387"/>
            <a:ext cx="7513637" cy="4883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Data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Includes details like name, contact info, country, and assigned support reps—useful for segmentation and regional insights.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Music Catalog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Captures artists, albums, tracks, and genres, forming the backbone of the product inventory.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Sales &amp; Invoices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Records transaction history, invoice dates, total amounts, and purchase methods.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 Structure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Stores employee roles, territories, and reporting hierarchy—helpful for sales performance mapping.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Geographic Reach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Covers customer distribution across countries, enabling regional sales and marketing analysis.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/>
        </p:nvSpPr>
        <p:spPr>
          <a:xfrm>
            <a:off x="1662112" y="655637"/>
            <a:ext cx="4175125" cy="661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lgerian"/>
              <a:buNone/>
            </a:pPr>
            <a:r>
              <a:rPr b="0" i="0" lang="en-US" sz="3600" u="none">
                <a:solidFill>
                  <a:srgbClr val="C00000"/>
                </a:solidFill>
                <a:latin typeface="Algerian"/>
                <a:ea typeface="Algerian"/>
                <a:cs typeface="Algerian"/>
                <a:sym typeface="Algerian"/>
              </a:rPr>
              <a:t>METHODOLOGY</a:t>
            </a:r>
            <a:endParaRPr/>
          </a:p>
        </p:txBody>
      </p:sp>
      <p:sp>
        <p:nvSpPr>
          <p:cNvPr id="168" name="Google Shape;168;p24"/>
          <p:cNvSpPr txBox="1"/>
          <p:nvPr/>
        </p:nvSpPr>
        <p:spPr>
          <a:xfrm>
            <a:off x="1662112" y="1843087"/>
            <a:ext cx="7521575" cy="3589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Understanding &amp; Schema Exploration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Review tables like </a:t>
            </a:r>
            <a:r>
              <a:rPr b="0" i="0" lang="en-US" sz="18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Customer</a:t>
            </a: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0" i="0" lang="en-US" sz="18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Invoice</a:t>
            </a: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0" i="0" lang="en-US" sz="18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Track</a:t>
            </a: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0" i="0" lang="en-US" sz="18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Album</a:t>
            </a: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0" i="0" lang="en-US" sz="18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Genre</a:t>
            </a: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, and </a:t>
            </a:r>
            <a:r>
              <a:rPr b="0" i="0" lang="en-US" sz="1800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Employee</a:t>
            </a: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to understand data relationships and business context.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Cleaning &amp; Preparation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Handle missing values, normalize data types, and create relevant joins across tables for a unified analytical dataset.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Exploratory Data Analysis (EDA)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 SQL queries and visual tools to uncover patterns in customer purchases, top-selling tracks, revenue distribution, and regional performance.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/>
        </p:nvSpPr>
        <p:spPr>
          <a:xfrm>
            <a:off x="1724025" y="665162"/>
            <a:ext cx="29337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lgerian"/>
              <a:buNone/>
            </a:pPr>
            <a:r>
              <a:rPr b="0" i="0" lang="en-US" sz="3600" u="none">
                <a:solidFill>
                  <a:srgbClr val="C00000"/>
                </a:solidFill>
                <a:latin typeface="Algerian"/>
                <a:ea typeface="Algerian"/>
                <a:cs typeface="Algerian"/>
                <a:sym typeface="Algerian"/>
              </a:rPr>
              <a:t>ANALYASIS</a:t>
            </a:r>
            <a:endParaRPr/>
          </a:p>
        </p:txBody>
      </p:sp>
      <p:pic>
        <p:nvPicPr>
          <p:cNvPr id="174" name="Google Shape;1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4650" y="1646237"/>
            <a:ext cx="6943725" cy="407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5"/>
          <p:cNvSpPr txBox="1"/>
          <p:nvPr/>
        </p:nvSpPr>
        <p:spPr>
          <a:xfrm>
            <a:off x="852487" y="1719262"/>
            <a:ext cx="3805237" cy="408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Rock genre dominates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total track sales compared to other genres.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Pop, Latin, and Jazz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follow closely with similar lower sales, showing balanced interest.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Van Halen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top-selling artist with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 sales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Rock genre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leads, matching Van Halen’s sales—strong genre-artist link.</a:t>
            </a:r>
            <a:endParaRPr/>
          </a:p>
        </p:txBody>
      </p:sp>
      <p:pic>
        <p:nvPicPr>
          <p:cNvPr descr="Picture 5" id="176" name="Google Shape;176;p25"/>
          <p:cNvPicPr preferRelativeResize="0"/>
          <p:nvPr/>
        </p:nvPicPr>
        <p:blipFill rotWithShape="1">
          <a:blip r:embed="rId4">
            <a:alphaModFix/>
          </a:blip>
          <a:srcRect b="8331" l="1980" r="46334" t="8332"/>
          <a:stretch/>
        </p:blipFill>
        <p:spPr>
          <a:xfrm>
            <a:off x="10058400" y="5381625"/>
            <a:ext cx="1770062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rt 1" id="181" name="Google Shape;1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530225"/>
            <a:ext cx="8337550" cy="43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855662" y="5357812"/>
            <a:ext cx="3692525" cy="884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 leads in intensity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indicating highest Customer count.</a:t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5751512" y="5338762"/>
            <a:ext cx="3692525" cy="61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Europe and Australia follow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showing strong global presence.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625" y="1044575"/>
            <a:ext cx="8915400" cy="398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7"/>
          <p:cNvSpPr txBox="1"/>
          <p:nvPr/>
        </p:nvSpPr>
        <p:spPr>
          <a:xfrm>
            <a:off x="546100" y="5484812"/>
            <a:ext cx="4964112" cy="61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 dominates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both revenue and invoice volume.</a:t>
            </a:r>
            <a:endParaRPr/>
          </a:p>
        </p:txBody>
      </p:sp>
      <p:sp>
        <p:nvSpPr>
          <p:cNvPr id="190" name="Google Shape;190;p27"/>
          <p:cNvSpPr txBox="1"/>
          <p:nvPr/>
        </p:nvSpPr>
        <p:spPr>
          <a:xfrm>
            <a:off x="5541962" y="5470525"/>
            <a:ext cx="3886200" cy="617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UK and Canada follow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indicating strong but distant performance.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/>
        </p:nvSpPr>
        <p:spPr>
          <a:xfrm>
            <a:off x="566737" y="4962525"/>
            <a:ext cx="9337675" cy="141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Highest Spender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Dominique Lefebvre shows peak total spending despite moderate AOV and frequency.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Efficient Buyers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François Tremblay and Niklas Schröder have high frequency with above-average AOV.</a:t>
            </a:r>
            <a:endParaRPr/>
          </a:p>
        </p:txBody>
      </p:sp>
      <p:pic>
        <p:nvPicPr>
          <p:cNvPr id="196" name="Google Shape;19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275" y="698500"/>
            <a:ext cx="8907462" cy="4011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/>
        </p:nvSpPr>
        <p:spPr>
          <a:xfrm>
            <a:off x="625475" y="5083175"/>
            <a:ext cx="8029575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rPr b="1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Rock Dominates</a:t>
            </a: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Rock music leads with the highest sales share by far. </a:t>
            </a:r>
            <a:endParaRPr/>
          </a:p>
        </p:txBody>
      </p:sp>
      <p:sp>
        <p:nvSpPr>
          <p:cNvPr id="202" name="Google Shape;202;p29"/>
          <p:cNvSpPr txBox="1"/>
          <p:nvPr/>
        </p:nvSpPr>
        <p:spPr>
          <a:xfrm>
            <a:off x="625475" y="5692775"/>
            <a:ext cx="92646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📉 </a:t>
            </a:r>
            <a:r>
              <a:rPr b="1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Low Genre Diversity</a:t>
            </a: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Other genres show minimal sales, indicating niche appeal.</a:t>
            </a:r>
            <a:endParaRPr/>
          </a:p>
        </p:txBody>
      </p:sp>
      <p:pic>
        <p:nvPicPr>
          <p:cNvPr id="203" name="Google Shape;2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462" y="860425"/>
            <a:ext cx="8974137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/>
        </p:nvSpPr>
        <p:spPr>
          <a:xfrm>
            <a:off x="508000" y="5045075"/>
            <a:ext cx="69691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🎧 </a:t>
            </a:r>
            <a:r>
              <a:rPr b="1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Top Explorers</a:t>
            </a: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Leonie Köhler has highest genre diversity. </a:t>
            </a:r>
            <a:endParaRPr/>
          </a:p>
        </p:txBody>
      </p:sp>
      <p:sp>
        <p:nvSpPr>
          <p:cNvPr id="209" name="Google Shape;209;p30"/>
          <p:cNvSpPr txBox="1"/>
          <p:nvPr/>
        </p:nvSpPr>
        <p:spPr>
          <a:xfrm>
            <a:off x="508000" y="5776912"/>
            <a:ext cx="89249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📊 </a:t>
            </a:r>
            <a:r>
              <a:rPr b="1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Engaged Listeners</a:t>
            </a: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Majority explored 7+ genres—signs of broad musical interest.</a:t>
            </a:r>
            <a:endParaRPr/>
          </a:p>
        </p:txBody>
      </p:sp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225" y="866775"/>
            <a:ext cx="9267825" cy="257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12" y="688975"/>
            <a:ext cx="8413750" cy="405923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1"/>
          <p:cNvSpPr txBox="1"/>
          <p:nvPr/>
        </p:nvSpPr>
        <p:spPr>
          <a:xfrm>
            <a:off x="574675" y="5381625"/>
            <a:ext cx="8118475" cy="35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Long-term customers buy far more often and spend much more overall.</a:t>
            </a:r>
            <a:endParaRPr/>
          </a:p>
        </p:txBody>
      </p:sp>
      <p:sp>
        <p:nvSpPr>
          <p:cNvPr id="217" name="Google Shape;217;p31"/>
          <p:cNvSpPr txBox="1"/>
          <p:nvPr/>
        </p:nvSpPr>
        <p:spPr>
          <a:xfrm>
            <a:off x="574675" y="6019800"/>
            <a:ext cx="7335837" cy="3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customers have low frequency and low total spending.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/>
        </p:nvSpPr>
        <p:spPr>
          <a:xfrm>
            <a:off x="612775" y="5151437"/>
            <a:ext cx="6316662" cy="35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 leads in purchases and revenue by a large margin.</a:t>
            </a:r>
            <a:endParaRPr/>
          </a:p>
        </p:txBody>
      </p:sp>
      <p:sp>
        <p:nvSpPr>
          <p:cNvPr id="223" name="Google Shape;223;p32"/>
          <p:cNvSpPr txBox="1"/>
          <p:nvPr/>
        </p:nvSpPr>
        <p:spPr>
          <a:xfrm>
            <a:off x="612775" y="5773737"/>
            <a:ext cx="8589962" cy="617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countries show lower but steady spending; no single country rivals the USA’s volume or revenue.</a:t>
            </a:r>
            <a:endParaRPr/>
          </a:p>
        </p:txBody>
      </p:sp>
      <p:pic>
        <p:nvPicPr>
          <p:cNvPr id="224" name="Google Shape;2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00" y="606425"/>
            <a:ext cx="9334500" cy="4011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/>
        </p:nvSpPr>
        <p:spPr>
          <a:xfrm>
            <a:off x="738187" y="5491162"/>
            <a:ext cx="8388350" cy="35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Norway, Belgium, and Denmark have 100% churn despite low customer counts.</a:t>
            </a:r>
            <a:endParaRPr/>
          </a:p>
        </p:txBody>
      </p:sp>
      <p:sp>
        <p:nvSpPr>
          <p:cNvPr id="230" name="Google Shape;230;p33"/>
          <p:cNvSpPr txBox="1"/>
          <p:nvPr/>
        </p:nvSpPr>
        <p:spPr>
          <a:xfrm>
            <a:off x="738187" y="6076950"/>
            <a:ext cx="8228012" cy="3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 has the most customers and lower churn rate, showing stronger retention.</a:t>
            </a:r>
            <a:endParaRPr/>
          </a:p>
        </p:txBody>
      </p:sp>
      <p:pic>
        <p:nvPicPr>
          <p:cNvPr id="231" name="Google Shape;2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488950"/>
            <a:ext cx="8929687" cy="4513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/>
        </p:nvSpPr>
        <p:spPr>
          <a:xfrm>
            <a:off x="628650" y="5394325"/>
            <a:ext cx="8799512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Frequency varies widely, with some customers buying 15-18 times, others very little.</a:t>
            </a:r>
            <a:endParaRPr/>
          </a:p>
        </p:txBody>
      </p:sp>
      <p:sp>
        <p:nvSpPr>
          <p:cNvPr id="237" name="Google Shape;237;p34"/>
          <p:cNvSpPr txBox="1"/>
          <p:nvPr/>
        </p:nvSpPr>
        <p:spPr>
          <a:xfrm>
            <a:off x="628650" y="5921375"/>
            <a:ext cx="8724900" cy="617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customers have moderate monetary value and low recency, suggesting recent purchases are sparse.</a:t>
            </a:r>
            <a:endParaRPr/>
          </a:p>
        </p:txBody>
      </p:sp>
      <p:pic>
        <p:nvPicPr>
          <p:cNvPr id="238" name="Google Shape;23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662" y="446087"/>
            <a:ext cx="8702675" cy="4329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/>
        </p:nvSpPr>
        <p:spPr>
          <a:xfrm>
            <a:off x="619125" y="5518150"/>
            <a:ext cx="7018337" cy="61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 has the highest customer count and frequency, lowering risk.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44" name="Google Shape;244;p35"/>
          <p:cNvSpPr txBox="1"/>
          <p:nvPr/>
        </p:nvSpPr>
        <p:spPr>
          <a:xfrm>
            <a:off x="619125" y="5962650"/>
            <a:ext cx="8866187" cy="617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countries show high recency but low monetary values, signaling potential churn risk.</a:t>
            </a:r>
            <a:endParaRPr/>
          </a:p>
        </p:txBody>
      </p:sp>
      <p:pic>
        <p:nvPicPr>
          <p:cNvPr id="245" name="Google Shape;24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787" y="485775"/>
            <a:ext cx="8567737" cy="4148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/>
          <p:nvPr/>
        </p:nvSpPr>
        <p:spPr>
          <a:xfrm>
            <a:off x="684212" y="5187950"/>
            <a:ext cx="4724400" cy="141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Czech Republic and India show high total purchases and estimated CLV.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Lifespans are generally stable across countries, mostly above 1000 days.</a:t>
            </a:r>
            <a:endParaRPr/>
          </a:p>
        </p:txBody>
      </p:sp>
      <p:sp>
        <p:nvSpPr>
          <p:cNvPr id="251" name="Google Shape;251;p36"/>
          <p:cNvSpPr txBox="1"/>
          <p:nvPr/>
        </p:nvSpPr>
        <p:spPr>
          <a:xfrm>
            <a:off x="5157787" y="5159375"/>
            <a:ext cx="5864225" cy="1416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Argentina and Denmark have low CLV and purchase activity.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Avg purchase value varies less than total purchase volume, indicating volume drives CLV differences.</a:t>
            </a:r>
            <a:endParaRPr/>
          </a:p>
        </p:txBody>
      </p:sp>
      <p:pic>
        <p:nvPicPr>
          <p:cNvPr id="252" name="Google Shape;25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12" y="546100"/>
            <a:ext cx="8416925" cy="4164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/>
        </p:nvSpPr>
        <p:spPr>
          <a:xfrm>
            <a:off x="665162" y="5160962"/>
            <a:ext cx="4932362" cy="141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CLV customers generally have shorter last purchase intervals, indicating loyalty.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Customers with long gaps since last purchase mostly have lower CLV.</a:t>
            </a:r>
            <a:endParaRPr/>
          </a:p>
        </p:txBody>
      </p:sp>
      <p:sp>
        <p:nvSpPr>
          <p:cNvPr id="258" name="Google Shape;258;p37"/>
          <p:cNvSpPr txBox="1"/>
          <p:nvPr/>
        </p:nvSpPr>
        <p:spPr>
          <a:xfrm>
            <a:off x="5688012" y="5130800"/>
            <a:ext cx="4779962" cy="1417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Frantisek Wichterlová leads CLV despite a moderate interval.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Diego Gutierrez has low CLV and the longest interval, signaling churn risk.</a:t>
            </a:r>
            <a:endParaRPr/>
          </a:p>
        </p:txBody>
      </p:sp>
      <p:pic>
        <p:nvPicPr>
          <p:cNvPr id="259" name="Google Shape;25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787" y="417512"/>
            <a:ext cx="8289925" cy="410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/>
          <p:nvPr/>
        </p:nvSpPr>
        <p:spPr>
          <a:xfrm>
            <a:off x="825500" y="4953000"/>
            <a:ext cx="4471987" cy="1684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 leads in customer count and track purchases per customer.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Czech Republic shows high average spending and track purchases despite lower customer count.</a:t>
            </a:r>
            <a:endParaRPr/>
          </a:p>
        </p:txBody>
      </p:sp>
      <p:sp>
        <p:nvSpPr>
          <p:cNvPr id="265" name="Google Shape;265;p38"/>
          <p:cNvSpPr txBox="1"/>
          <p:nvPr/>
        </p:nvSpPr>
        <p:spPr>
          <a:xfrm>
            <a:off x="5380037" y="4918075"/>
            <a:ext cx="4471987" cy="1417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countries cluster around moderate spending and track purchases.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Argentina and Denmark have lower average tracks purchased per customer.</a:t>
            </a:r>
            <a:endParaRPr/>
          </a:p>
        </p:txBody>
      </p:sp>
      <p:pic>
        <p:nvPicPr>
          <p:cNvPr id="266" name="Google Shape;26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475" y="874712"/>
            <a:ext cx="8366125" cy="3700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/>
        </p:nvSpPr>
        <p:spPr>
          <a:xfrm>
            <a:off x="1905000" y="631825"/>
            <a:ext cx="6853237" cy="75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Algerian"/>
              <a:buNone/>
            </a:pPr>
            <a:r>
              <a:rPr b="0" i="0" lang="en-US" sz="3300" u="none">
                <a:solidFill>
                  <a:srgbClr val="C00000"/>
                </a:solidFill>
                <a:latin typeface="Algerian"/>
                <a:ea typeface="Algerian"/>
                <a:cs typeface="Algerian"/>
                <a:sym typeface="Algerian"/>
              </a:rPr>
              <a:t>STRATEGIC RECOMMENDATION</a:t>
            </a:r>
            <a:endParaRPr/>
          </a:p>
        </p:txBody>
      </p:sp>
      <p:sp>
        <p:nvSpPr>
          <p:cNvPr id="272" name="Google Shape;272;p39"/>
          <p:cNvSpPr txBox="1"/>
          <p:nvPr/>
        </p:nvSpPr>
        <p:spPr>
          <a:xfrm>
            <a:off x="1905000" y="1385887"/>
            <a:ext cx="6967537" cy="275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rPr b="1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Goal: Boost Revenue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1" i="0" sz="1800" u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Reward frequent buyers with loyalty perks.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Upsell bundles in low-spending countries.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rPr b="1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Goal: Reduce Churn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1" i="0" sz="1800" u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Target at-risk customers with win-back offers.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Focus churn reduction in Norway, Belgium, Denmark.</a:t>
            </a:r>
            <a:endParaRPr/>
          </a:p>
        </p:txBody>
      </p:sp>
      <p:sp>
        <p:nvSpPr>
          <p:cNvPr id="273" name="Google Shape;273;p39"/>
          <p:cNvSpPr txBox="1"/>
          <p:nvPr/>
        </p:nvSpPr>
        <p:spPr>
          <a:xfrm>
            <a:off x="1905000" y="4108450"/>
            <a:ext cx="7731125" cy="24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rPr b="1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Goal: Grow Key Markets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t/>
            </a:r>
            <a:endParaRPr b="1" i="0" sz="1800" u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Invest in USA, Czech Republic, India with local promos.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Offer region-specific content and pricing.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rebuchet MS"/>
              <a:buNone/>
            </a:pPr>
            <a:r>
              <a:rPr b="1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Goal: Improve Engagement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Personalize track recommendations.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Use RFM data to tailor offers by customer type.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4" id="278" name="Google Shape;27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9525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Facet">
  <a:themeElements>
    <a:clrScheme name="Face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Facet">
  <a:themeElements>
    <a:clrScheme name="Face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Facet">
  <a:themeElements>
    <a:clrScheme name="Face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